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1cb6956d734dea" /><Relationship Type="http://schemas.openxmlformats.org/officeDocument/2006/relationships/extended-properties" Target="/docProps/app.xml" Id="R51dc713462ca437c" /><Relationship Type="http://schemas.openxmlformats.org/officeDocument/2006/relationships/officeDocument" Target="/ppt/presentation.xml" Id="R42eb9f597e8a41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64057bfaa14afc"/>
  </p:sldMasterIdLst>
  <p:notesMasterIdLst>
    <p:notesMasterId xmlns:r="http://schemas.openxmlformats.org/officeDocument/2006/relationships" r:id="Ra6c0c5a4d78d4a16"/>
  </p:notesMasterIdLst>
  <p:sldIdLst>
    <p:sldId xmlns:r="http://schemas.openxmlformats.org/officeDocument/2006/relationships" id="256" r:id="Rf351e646c2ff45dd"/>
    <p:sldId xmlns:r="http://schemas.openxmlformats.org/officeDocument/2006/relationships" id="257" r:id="Rfafdc44207fb4756"/>
    <p:sldId xmlns:r="http://schemas.openxmlformats.org/officeDocument/2006/relationships" id="258" r:id="R5656e0ce24334f79"/>
    <p:sldId xmlns:r="http://schemas.openxmlformats.org/officeDocument/2006/relationships" id="259" r:id="R5338fd5c76fe4360"/>
    <p:sldId xmlns:r="http://schemas.openxmlformats.org/officeDocument/2006/relationships" id="260" r:id="R90d157632c2c4696"/>
    <p:sldId xmlns:r="http://schemas.openxmlformats.org/officeDocument/2006/relationships" id="261" r:id="R0b1a06c34b1f41ac"/>
    <p:sldId xmlns:r="http://schemas.openxmlformats.org/officeDocument/2006/relationships" id="262" r:id="R5333cb4e5afa4ba1"/>
    <p:sldId xmlns:r="http://schemas.openxmlformats.org/officeDocument/2006/relationships" id="263" r:id="R3a9dd39169804602"/>
    <p:sldId xmlns:r="http://schemas.openxmlformats.org/officeDocument/2006/relationships" id="264" r:id="R66c7c2efa08642ed"/>
    <p:sldId xmlns:r="http://schemas.openxmlformats.org/officeDocument/2006/relationships" id="265" r:id="R641a007686fc4f21"/>
    <p:sldId xmlns:r="http://schemas.openxmlformats.org/officeDocument/2006/relationships" id="266" r:id="R4db73a91bd4442a3"/>
    <p:sldId xmlns:r="http://schemas.openxmlformats.org/officeDocument/2006/relationships" id="267" r:id="R2cede19f092c4238"/>
    <p:sldId xmlns:r="http://schemas.openxmlformats.org/officeDocument/2006/relationships" id="268" r:id="R2313febf9c3444e2"/>
    <p:sldId xmlns:r="http://schemas.openxmlformats.org/officeDocument/2006/relationships" id="269" r:id="R73073280d4a641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64057bfaa14afc" /><Relationship Type="http://schemas.openxmlformats.org/officeDocument/2006/relationships/theme" Target="/ppt/theme/theme1.xml" Id="Rf0ffe1d231094142" /><Relationship Type="http://schemas.openxmlformats.org/officeDocument/2006/relationships/notesMaster" Target="/ppt/notesMasters/notesMaster1.xml" Id="Ra6c0c5a4d78d4a16" /><Relationship Type="http://schemas.openxmlformats.org/officeDocument/2006/relationships/presProps" Target="/ppt/presProps.xml" Id="Rb84d442e5bed47fb" /><Relationship Type="http://schemas.openxmlformats.org/officeDocument/2006/relationships/viewProps" Target="/ppt/viewProps.xml" Id="R09a289e7cfcf4a2d" /><Relationship Type="http://schemas.openxmlformats.org/officeDocument/2006/relationships/tableStyles" Target="/ppt/tableStyles.xml" Id="R87b2113d8b354128" /><Relationship Type="http://schemas.openxmlformats.org/officeDocument/2006/relationships/slide" Target="/ppt/slides/slide1.xml" Id="Rf351e646c2ff45dd" /><Relationship Type="http://schemas.openxmlformats.org/officeDocument/2006/relationships/slide" Target="/ppt/slides/slide2.xml" Id="Rfafdc44207fb4756" /><Relationship Type="http://schemas.openxmlformats.org/officeDocument/2006/relationships/slide" Target="/ppt/slides/slide3.xml" Id="R5656e0ce24334f79" /><Relationship Type="http://schemas.openxmlformats.org/officeDocument/2006/relationships/slide" Target="/ppt/slides/slide4.xml" Id="R5338fd5c76fe4360" /><Relationship Type="http://schemas.openxmlformats.org/officeDocument/2006/relationships/slide" Target="/ppt/slides/slide5.xml" Id="R90d157632c2c4696" /><Relationship Type="http://schemas.openxmlformats.org/officeDocument/2006/relationships/slide" Target="/ppt/slides/slide6.xml" Id="R0b1a06c34b1f41ac" /><Relationship Type="http://schemas.openxmlformats.org/officeDocument/2006/relationships/slide" Target="/ppt/slides/slide7.xml" Id="R5333cb4e5afa4ba1" /><Relationship Type="http://schemas.openxmlformats.org/officeDocument/2006/relationships/slide" Target="/ppt/slides/slide8.xml" Id="R3a9dd39169804602" /><Relationship Type="http://schemas.openxmlformats.org/officeDocument/2006/relationships/slide" Target="/ppt/slides/slide9.xml" Id="R66c7c2efa08642ed" /><Relationship Type="http://schemas.openxmlformats.org/officeDocument/2006/relationships/slide" Target="/ppt/slides/slide10.xml" Id="R641a007686fc4f21" /><Relationship Type="http://schemas.openxmlformats.org/officeDocument/2006/relationships/slide" Target="/ppt/slides/slide11.xml" Id="R4db73a91bd4442a3" /><Relationship Type="http://schemas.openxmlformats.org/officeDocument/2006/relationships/slide" Target="/ppt/slides/slide12.xml" Id="R2cede19f092c4238" /><Relationship Type="http://schemas.openxmlformats.org/officeDocument/2006/relationships/slide" Target="/ppt/slides/slide13.xml" Id="R2313febf9c3444e2" /><Relationship Type="http://schemas.openxmlformats.org/officeDocument/2006/relationships/slide" Target="/ppt/slides/slide14.xml" Id="R73073280d4a641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23b58bf3a2146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a089aaa22b4fa4" /><Relationship Type="http://schemas.openxmlformats.org/officeDocument/2006/relationships/notesMaster" Target="/ppt/notesMasters/notesMaster1.xml" Id="R221f1cd98d604e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cb985f4916426f" /><Relationship Type="http://schemas.openxmlformats.org/officeDocument/2006/relationships/notesMaster" Target="/ppt/notesMasters/notesMaster1.xml" Id="R701a581f32474a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0ced94e3e640d2" /><Relationship Type="http://schemas.openxmlformats.org/officeDocument/2006/relationships/notesMaster" Target="/ppt/notesMasters/notesMaster1.xml" Id="R92df3290268e42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0fe7557edb4243" /><Relationship Type="http://schemas.openxmlformats.org/officeDocument/2006/relationships/notesMaster" Target="/ppt/notesMasters/notesMaster1.xml" Id="R24630984951b48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dd867fc86949b5" /><Relationship Type="http://schemas.openxmlformats.org/officeDocument/2006/relationships/notesMaster" Target="/ppt/notesMasters/notesMaster1.xml" Id="Rbc47096d604a43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e78644148a4b19" /><Relationship Type="http://schemas.openxmlformats.org/officeDocument/2006/relationships/notesMaster" Target="/ppt/notesMasters/notesMaster1.xml" Id="Ra81b32360f4f48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72e896aa984cbc" /><Relationship Type="http://schemas.openxmlformats.org/officeDocument/2006/relationships/notesMaster" Target="/ppt/notesMasters/notesMaster1.xml" Id="R052c3fe56ede4c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5c0c7c0e5f4c98" /><Relationship Type="http://schemas.openxmlformats.org/officeDocument/2006/relationships/notesMaster" Target="/ppt/notesMasters/notesMaster1.xml" Id="R681e99e43fd64e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6c50e0fe424644" /><Relationship Type="http://schemas.openxmlformats.org/officeDocument/2006/relationships/notesMaster" Target="/ppt/notesMasters/notesMaster1.xml" Id="R908a1401240e4a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3d1f170c124ba0" /><Relationship Type="http://schemas.openxmlformats.org/officeDocument/2006/relationships/notesMaster" Target="/ppt/notesMasters/notesMaster1.xml" Id="R28007fe4011e4c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8d05398a0f438c" /><Relationship Type="http://schemas.openxmlformats.org/officeDocument/2006/relationships/notesMaster" Target="/ppt/notesMasters/notesMaster1.xml" Id="Rdbf362c692eb44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1ff91ec5024e03" /><Relationship Type="http://schemas.openxmlformats.org/officeDocument/2006/relationships/notesMaster" Target="/ppt/notesMasters/notesMaster1.xml" Id="R7723834b7f6a46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ee74f95b0448a8" /><Relationship Type="http://schemas.openxmlformats.org/officeDocument/2006/relationships/notesMaster" Target="/ppt/notesMasters/notesMaster1.xml" Id="R4bc7cdfa3eeb42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3d39352857448e" /><Relationship Type="http://schemas.openxmlformats.org/officeDocument/2006/relationships/notesMaster" Target="/ppt/notesMasters/notesMaster1.xml" Id="Rf9891bc3c4a841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76a1a0be12439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81f3b8f310c45db" /><Relationship Type="http://schemas.openxmlformats.org/officeDocument/2006/relationships/slideLayout" Target="/ppt/slideLayouts/slideLayout2.xml" Id="Rd56c8a34974147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6c8a34974147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158a85026a4242" /><Relationship Type="http://schemas.openxmlformats.org/officeDocument/2006/relationships/notesSlide" Target="/ppt/notesSlides/notesSlide1.xml" Id="R4c068bf1dde74f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9a5e3d49a44c1e" /><Relationship Type="http://schemas.openxmlformats.org/officeDocument/2006/relationships/notesSlide" Target="/ppt/notesSlides/notesSlide2.xml" Id="Rf2a7daed51c54f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a5d7dee9834af6" /><Relationship Type="http://schemas.openxmlformats.org/officeDocument/2006/relationships/notesSlide" Target="/ppt/notesSlides/notesSlide3.xml" Id="R338fbd5a0d7447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3af9a8c0554874" /><Relationship Type="http://schemas.openxmlformats.org/officeDocument/2006/relationships/notesSlide" Target="/ppt/notesSlides/notesSlide4.xml" Id="R26d3c10445da44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2ef1ba52e4406a" /><Relationship Type="http://schemas.openxmlformats.org/officeDocument/2006/relationships/notesSlide" Target="/ppt/notesSlides/notesSlide5.xml" Id="R98fa39f7337048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6f87f2a91447d2" /><Relationship Type="http://schemas.openxmlformats.org/officeDocument/2006/relationships/notesSlide" Target="/ppt/notesSlides/notesSlide6.xml" Id="R7065839df3074f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69c66c7eeb4353" /><Relationship Type="http://schemas.openxmlformats.org/officeDocument/2006/relationships/notesSlide" Target="/ppt/notesSlides/notesSlide7.xml" Id="R65dcdccb4c2e43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b615d737f6465d" /><Relationship Type="http://schemas.openxmlformats.org/officeDocument/2006/relationships/notesSlide" Target="/ppt/notesSlides/notesSlide8.xml" Id="R8c0ac5f0936849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b9ce24b08b4bde" /><Relationship Type="http://schemas.openxmlformats.org/officeDocument/2006/relationships/notesSlide" Target="/ppt/notesSlides/notesSlide9.xml" Id="R6ab2d159d1a44b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1f4e172e394a70" /><Relationship Type="http://schemas.openxmlformats.org/officeDocument/2006/relationships/notesSlide" Target="/ppt/notesSlides/notesSlide10.xml" Id="R62da7a13c67645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881c1ea5f147de" /><Relationship Type="http://schemas.openxmlformats.org/officeDocument/2006/relationships/notesSlide" Target="/ppt/notesSlides/notesSlide11.xml" Id="R3f543f19b5b541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5c3d202ead4442" /><Relationship Type="http://schemas.openxmlformats.org/officeDocument/2006/relationships/notesSlide" Target="/ppt/notesSlides/notesSlide12.xml" Id="R486b4c0cc87f48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7c8241e4814c34" /><Relationship Type="http://schemas.openxmlformats.org/officeDocument/2006/relationships/notesSlide" Target="/ppt/notesSlides/notesSlide13.xml" Id="Rb6ba268f88f443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9f85504e924e81" /><Relationship Type="http://schemas.openxmlformats.org/officeDocument/2006/relationships/notesSlide" Target="/ppt/notesSlides/notesSlide14.xml" Id="R81a8aa3d393a46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1BCF5B-1F0D-451D-A4C7-C2F12704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Identity as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BF38C-2619-4FB0-89B2-14219C6F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47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A Rust-based FEN framework for biological continuity, institutional linkage, and auditable 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F9F0A-D952-4315-929E-815032FF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Team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A5F58-8710-471B-85F7-5C6700D0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Programmer | UX researcher/designer | cancer lab scientist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65E84-B073-4203-A750-3C572952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28700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45C21-ABF6-48F6-95C4-8D914ABF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2870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025D3-AD7D-4707-BAF4-AED35511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20015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Initial binding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EDD67-27DB-4491-BDC7-201251DC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524000"/>
            <a:ext cx="308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First bind account, person, device, evidence, and records.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25750-04B6-4EE5-945A-4F9F35C3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288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61339-3BFB-4D7B-B5F1-F2A308FB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4312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D2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D2C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8B9AB-CEEC-45D8-BA0A-211DB9DC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57450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48D25-C04A-4EBC-8C97-9670793E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574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7FFC4-D13D-48B9-A1EA-F192CC88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289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Continuity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F3D38-486B-4AE8-BB3E-12B4F7B5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52750"/>
            <a:ext cx="308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Later prove the current actor is continuous with that subject.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60851-02C1-4BB6-B7C0-8CFC369B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576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0946B-7D05-452A-A95B-3A0F93E2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718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D2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D2C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FB8227-33D3-4EDE-9A8A-7AF9C53B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86200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C8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A98A9-C4B4-49F8-8B37-0C5B3ECE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8620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BC412-4F69-4241-9732-667F7197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5765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Policy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0BA5D-EE36-4A33-BF59-50B3C03B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81500"/>
            <a:ext cx="308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Materialize only what the caller and purpose are allowed to rely 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826D30-B93E-46DE-A755-F0DE81C7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F96312-0C6C-4511-807B-2026D10C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Source: FEN Identity Model and current Rust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034198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EBA8A5-ED67-4778-A630-E6555C63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PROBLEM 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C4D4F-7C1F-4F2F-B3A2-E8E55D47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Identity is not one question.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B3E96-DFF9-4375-8BE9-4C868442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Ordinary login collapses several risks that FEN needs to keep separate.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8A094-4948-4B60-AE69-7D500F13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38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AE799-5AC7-4478-BB37-6B1EC4EF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6B21E-3348-4175-AD52-C4B1D565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FEN identity model | team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22FE5-13FE-4CF9-94D8-5A3C2074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343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D27A0-FCA9-4AE5-A351-A661735A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343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3567D-CC6F-4F8B-AED7-354FF829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Account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5F2AE-4117-479D-81A8-23AB9846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Who controls this app account or session?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B9954-1715-4586-90D3-52B24FA3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57500"/>
            <a:ext cx="2343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DF6E4-A288-4D31-BE60-556BC89F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57500"/>
            <a:ext cx="2343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02BD8-72F0-4FE3-BDFE-3804393D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Biological continuity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E7C62-AAE2-4737-B141-0992767E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5280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Is the acting person continuous with the enrolled subject?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1BED7-DC67-4870-9141-E37A6236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343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DE"/>
          </a:solidFill>
          <a:ln xmlns:a="http://schemas.openxmlformats.org/drawingml/2006/main" w="9525">
            <a:solidFill>
              <a:srgbClr val="3F7D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72C4A-6BD8-4BA7-85E7-32FB668B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343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47"/>
          </a:solidFill>
          <a:ln xmlns:a="http://schemas.openxmlformats.org/drawingml/2006/main" w="0">
            <a:solidFill>
              <a:srgbClr val="3F7D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2BF6EF-01D8-4EA0-98E7-42F90F11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28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Institutional linkage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3A9D4-C451-40E2-A195-C214D076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5280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Which provider, payer, or portal records are linked?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6918C0-87E6-4584-A72F-4061A0EB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57500"/>
            <a:ext cx="2343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C8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5461B5-ED9C-49AA-836A-DBAAB9D8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57500"/>
            <a:ext cx="2343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4E032F-D670-42C8-8B81-EB32DF95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28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Authority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FC8B20-BA80-412E-B8CF-1E27D9F5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5280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What may this person do for self or another subject?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4A7CF3-314B-448A-B4C2-7CB27A9E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Deck thesis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B52712-71E5-47FB-A0D4-BA0EAAAB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76800"/>
            <a:ext cx="704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The answer to the identity problem is never a primitive field. It is an auditable interpretation of evidence over time.</a:t>
            </a:r>
          </a:p>
        </p:txBody>
      </p:sp>
    </p:spTree>
    <p:extLst>
      <p:ext uri="{BB962C8B-B14F-4D97-AF65-F5344CB8AC3E}">
        <p14:creationId xmlns:p14="http://schemas.microsoft.com/office/powerpoint/2010/main" val="11547526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C620E0-8BD3-4DE9-8A2C-6D6BFFAA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3DEB2-8419-49A1-9A47-2853C299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FEN treats identity as a high-assurance region of the fact graph.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39767-16E0-4AD9-A6A1-2566C43A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The same abstractions carry onboarding, recovery, access, delegation, and disputes.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7BF45-3E80-416F-B7C5-5F7E4D23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38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F1170-D003-43E5-ABD8-C820C888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09E5C-426C-4CE1-A6E6-FE502E0B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FEN identity model | team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14CF2-30EF-46A0-B22A-0619F0EE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F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939CE-F00B-40A3-AE55-2CDCB636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7058B-93BD-48BD-8C02-1EF08ED8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SubjectId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630E0-5812-4530-9D4C-0A3B4E93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1466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Durable anchor for the biologically continuous subject.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65997-3F41-4810-8CFF-1413801F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718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207C9-179E-470E-9A40-D1575167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8612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D2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D2C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73BA6-F1EF-457F-9AB2-6CC7BDBD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622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1ADE7-8FC3-4D60-8694-AA88902E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622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2A4F2-D442-4B46-9FDA-0D3A96C1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337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Fact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72D84-D085-499B-8C09-B26006AA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1466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Time-indexed evidence, event, assertion, or decision.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AC975-8EA7-48A2-9CCF-B40DAA33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718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49ADD0-B880-49C9-BA83-63FB742A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8612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D2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D2C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89770-92C6-4432-8AA6-C40681F5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622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6B5F97-C91B-4568-8EDE-36554B57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622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7A66A-134C-4858-AC3B-89430182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337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ProblemEpisode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3463EF-F999-4F7B-ABF8-989ED527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1466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Fallible workflow context, such as onboarding or recovery.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9893D1-D2E3-43B4-A78B-C50C4C17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718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FDEC48-AF47-475C-8E65-C7D1D6B8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8612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D2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D2C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6EB5C1-8A64-4603-9B0C-9BE60933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622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C8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3C727F-5C68-4042-A5F1-5927EBEA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622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C9F4FB-86DC-4CFF-8650-A504E0C1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337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EpisodeMembership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C5D392-BAD7-4D55-A6A4-5FBB75FB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57550"/>
            <a:ext cx="1466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Authored claim that a fact matters to an episode.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A7CDD1-5B33-433C-9C67-BFD7D6BE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718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87DCDD-6579-4E1E-97F3-16A35CD5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8612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D2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D2C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B3606F-ABD8-4854-A1B9-113BF94D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622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DE"/>
          </a:solidFill>
          <a:ln xmlns:a="http://schemas.openxmlformats.org/drawingml/2006/main" w="9525">
            <a:solidFill>
              <a:srgbClr val="3F7D4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85E4E9-162B-4EF0-9F0D-4EDB2BD5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622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47"/>
          </a:solidFill>
          <a:ln xmlns:a="http://schemas.openxmlformats.org/drawingml/2006/main" w="0">
            <a:solidFill>
              <a:srgbClr val="3F7D4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47C52B-53B0-41FD-9D57-AD98A236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337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Narrative / projection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D05B91-55F4-4590-97BF-06C627BF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57550"/>
            <a:ext cx="1466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Current interpretation, rebuilt from active facts.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53A049-BDA4-4248-B8D7-FA910697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Important boundary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5AD7BB-E2D7-4F7D-A464-66E50908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742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The projection is useful for the product experience, but it is not the source of truth. The graph is.</a:t>
            </a:r>
          </a:p>
        </p:txBody>
      </p:sp>
    </p:spTree>
    <p:extLst>
      <p:ext uri="{BB962C8B-B14F-4D97-AF65-F5344CB8AC3E}">
        <p14:creationId xmlns:p14="http://schemas.microsoft.com/office/powerpoint/2010/main" val="408459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6497F2-2F27-488D-A9F8-EAB44326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INITIAL BINDING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DF179-ADBA-4F36-9CD8-8433DE91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Onboarding establishes the reference that continuity later protects.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F01D5-B53D-41F1-BC48-B30CF14D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Section 10 describes onboarding as a sequence of facts grouped into an identity-verification episode.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4E096-FB8C-42B6-8005-C21C505F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38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C691A-691C-4AB7-B815-1337D7B9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25579-CFB1-40C8-BF4A-73AC2205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FEN identity model | team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82D07-0480-4BF4-BE3C-B7677812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562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ABDEC-E352-4B7F-B154-DD7CB460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6670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93CFB-CA8A-4DE4-871F-08603148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E84DC-207C-470F-8FCB-DF0D0F87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Create SubjectId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1A2E5-341F-4E74-9DE2-E4F252C2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SubjectCreated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B5B05-8F7C-4B46-8FB0-1AFE25EB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562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5D611-26A0-4FE0-9FDC-157FABBE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670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070AF-62EC-4AE6-B980-2329D558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622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4311E6-33FD-4F7E-8D8E-70734E0F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004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Bind account/device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33A65F-57A1-469D-9710-D1BCA381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576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DeviceBindingEstablished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8674B-1921-46A4-8890-2B756FBA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62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1DB3B-B93C-45BE-9C94-C074EBC9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6670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2D181-BCAD-47B2-B5EC-40D58F07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622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F5A8F1-AC93-4761-A6EA-3BDDCB7D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Enroll biometric reference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2DEFE8-4761-4D07-8EBA-5D305CAE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576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BiometricEnrollmentReferenceAdded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20AEFC-1535-44A6-9D66-7DEFC567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562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88A9E4-CDFB-4815-A7C6-975EDE74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6670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A226C7-0581-4AAE-A1F0-BCCF75D6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622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AD0FBF-E18B-4E18-AE2F-5F12A545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Collect witnesses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527E07-08EB-484C-9368-40E35830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576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Government ID + selfie liveness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F155AB-DCF4-42C5-ACFA-EF8F6DD8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562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C50794-9F53-435A-B0FD-B37CBB6F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6670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7B71CE-6448-425A-A955-41605D26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622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8321C5-EEED-402A-9667-B7F59650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004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Link records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117909-9D5C-4E29-B7DB-1B34CAB8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576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Provider and payer links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BF828D-71B8-49EB-BCC9-DDD05FA5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562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EC7AEB-1DFC-4CB3-92E3-CB074A33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670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D1C164-778B-4927-BAA5-73045F57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004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Summarize current state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C638CB-1436-4888-B729-83DB8D5F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576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Narrative / projection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CA805D-409A-4908-AB86-94BD1861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9650"/>
            <a:ext cx="4095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39778C-8FB2-4B17-971F-E3E34728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9650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264B7A-F3C9-4DCD-B0C6-7BA8D29F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91100"/>
            <a:ext cx="3752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What this does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71ED4D-FFF4-4030-8E11-154DA6D4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14950"/>
            <a:ext cx="3752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Binds account, device, witnesses, enrollment reference, and institutional records to one subject.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A6F3A8-F7CA-4FED-818C-AE44E0E9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19650"/>
            <a:ext cx="4095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8D4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FCF330-0E5C-482A-8683-37C9DCEC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19650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A531E4-0647-46B2-8DE5-DCC8D169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91100"/>
            <a:ext cx="3752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What this does not do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4D1723-F3E1-4295-AAC7-34693B2D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14950"/>
            <a:ext cx="3752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Does not declare identity as one immutable value or put raw biometric material inside FEN facts.</a:t>
            </a:r>
          </a:p>
        </p:txBody>
      </p:sp>
    </p:spTree>
    <p:extLst>
      <p:ext uri="{BB962C8B-B14F-4D97-AF65-F5344CB8AC3E}">
        <p14:creationId xmlns:p14="http://schemas.microsoft.com/office/powerpoint/2010/main" val="3191302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4EA5B9-B286-4698-A9B3-77B69F58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TWO DISTINCT JOBS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C7019-F1D0-415A-8E8F-11A461BE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Initial binding and continuity answer different questions.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5270D-5D6D-454F-BC30-D913DF17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This distinction should be explicit in the team discussion.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9154E-7559-4E62-92F1-E6F26701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38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4D819-85D2-447E-9F68-06CFEDB8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E85B9-3B8E-4A93-9608-91E23D9D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FEN identity model | team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CB67D-A37B-4B5D-9CD8-33406CF6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4625"/>
            <a:ext cx="47625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BCC27-5120-41D2-9909-897ECE05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4625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6C841-01C1-42BF-9B76-DBF02FD9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86075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Initial establishment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27421-C5B8-4453-8B8B-CF12778B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9925"/>
            <a:ext cx="4419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Question: should this account, person, device, biometric reference, and institutional evidence be treated as bound?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Output: an onboarding episode with identity witnesses, device binding, enrollment reference, provider/payer links, and narrative.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22F11-0BC8-40DB-AA2A-59361DDF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14625"/>
            <a:ext cx="47625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B9E2C-6F95-4A6A-AA9E-8D2C94EF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14625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30A3C-5111-433A-BA19-EA0BBB30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86075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Biological continuity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1795A-2125-4F5D-B7D0-087BF85B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09925"/>
            <a:ext cx="44196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Question: does this live presentation match this subject's enrollment reference now?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Output: a signed continuity assertion that FEN verifies and records as a BiometricContinuityCheck fact.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962CB-E8EF-4028-A7E6-E24338D4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1020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Onboarding establishes the reference. Continuity protects reliance on it over time.</a:t>
            </a:r>
          </a:p>
        </p:txBody>
      </p:sp>
    </p:spTree>
    <p:extLst>
      <p:ext uri="{BB962C8B-B14F-4D97-AF65-F5344CB8AC3E}">
        <p14:creationId xmlns:p14="http://schemas.microsoft.com/office/powerpoint/2010/main" val="20044623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D49C59-1A62-486B-816A-82DFB800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CONTINUITY SUBSTRATE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FD153-53E2-4A02-ABCD-5841BE0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Section 21 is a three-trust-domain architecture.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1E17B-47C8-40E3-882C-47F4B04A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The vault verifies continuity, not identity. FEN decides what that continuity means.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779BF-EEB3-49AF-84FB-AB20A662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38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08594-A48D-4E73-BBF5-EEBF1AA6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0B11A-7B55-4604-8DE0-41034206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FEN identity model | team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CB00B-C706-4FBC-B472-43A589C8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87DDC-18EA-4E36-8CC3-3D1FBC4C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1E241-298F-48DB-BFE8-6364D8D3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Client device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C03A7-FECA-4053-A922-521E1F51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"/>
            <a:ext cx="2514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Capture + attestation</a:t>
            </a:r>
          </a:p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App Attest, frames</a:t>
            </a:r>
          </a:p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Echo FEN nonce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9993C-418C-4795-8780-E5E05077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338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89C81-E180-472C-B954-C253543B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480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A6391-9E43-48FC-B2F2-CB74E65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D56CD-E9C2-4C4B-9A15-3BFC6462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6F5EE-F437-487E-AFE7-E7230014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766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Continuity vault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C439D-9DE8-42BD-B744-55F2F529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00450"/>
            <a:ext cx="2514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Liveness / PAD</a:t>
            </a:r>
          </a:p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1:1 match vs this subject</a:t>
            </a:r>
          </a:p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Sign assertion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E1EAC-47B8-472F-9383-DFE8923E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338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BA49D-FC78-46D1-BD08-D7C93D93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480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7A9C87-351A-4549-B8BD-33E5F762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C8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A95293-2AD6-47C7-92ED-51C415FC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E86B98-A45D-4133-8E71-5A344E6B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766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FEN graph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32359A-8D2D-44FC-9E74-811511E4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00450"/>
            <a:ext cx="2514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Verify signature + nonce</a:t>
            </a:r>
          </a:p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Write continuity fact</a:t>
            </a:r>
          </a:p>
          <a:p xmlns:a="http://schemas.openxmlformats.org/drawingml/2006/main">
            <a:pPr algn="l">
              <a:defRPr sz="13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Map assurance to 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ABF94E-5068-4B78-8D39-4F569550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00350"/>
            <a:ext cx="704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0B3E08-9102-49AF-8D9D-7B500AD5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765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Phase boundary: ownership moves left over time; signed assertion stays stable.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5A117D-D793-4217-A13F-967DA00F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95900"/>
            <a:ext cx="868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Phase 1: vendor vault     Phase 2: in-house capture/store     Phase 3: enclave matching + multimodal governance</a:t>
            </a:r>
          </a:p>
        </p:txBody>
      </p:sp>
    </p:spTree>
    <p:extLst>
      <p:ext uri="{BB962C8B-B14F-4D97-AF65-F5344CB8AC3E}">
        <p14:creationId xmlns:p14="http://schemas.microsoft.com/office/powerpoint/2010/main" val="845395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7A7CB6-24FC-4DD4-B338-B8267178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FRESHNESS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A3C67-81A1-4984-A21C-21FD2EF9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The nonce is the anti-replay and anti-injection hinge.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7B796-001D-4C49-9049-4A4D73A2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FEN issues a challenge that must be bound into the capture and returned in the signed assertion.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4657C-A822-4C4F-99F1-FABFB29E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38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7F722-530F-4623-9827-27C67339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5C132-CB4D-4305-95D2-89736A81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FEN identity model | team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C868B-BB6F-4343-B106-91ADF820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8C8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88DF3-F5E0-4107-95ED-396D05A5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81325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FBD67-41DD-4983-B82E-45322A36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6235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FEN issues nonce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FF216-A4C1-439D-8B97-32097019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1962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89E37-7556-4DCB-84DC-C8CFBE52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38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6E7D7-0759-427E-9CA2-1B0007A9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81325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94C78-2CCC-43E7-B026-0EBDEEC6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6235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Client captures now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EFE8D-C90E-4C66-A0E3-05323385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05150"/>
            <a:ext cx="1962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4B288-F0E6-4A14-AA51-90C974FD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38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D9C071-9394-496E-95BD-F2D4A933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81325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91F8E-4EAA-4AAA-9CAA-D7DFB8FD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6235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Vault signs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A2D30-DE91-4CEC-AFE0-0065A979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1962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D7A1CF-A0F2-4EB5-BC2E-0ACEAECC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38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8C8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02399E-B18D-4C42-94E3-A7AD3C9F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81325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1184E6-09DE-47DB-96F7-B4B7E62A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FEN checks freshness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D759DC-1710-4C7F-A3AC-E5C6A841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48200"/>
            <a:ext cx="2667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8D4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BC5592-7C98-43F3-9301-D4C8A226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4820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637E49-2FAC-410D-945B-9FECC4DF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196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Blocks replay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24067D-38EF-4D13-B1EB-17F4770A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435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A prior valid assertion cannot be submitted again; its nonce is stale.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D85CF2-6B39-459B-BEEE-8C9DF0A9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2667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8D4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F4C3D7-C29D-4AC4-8EFC-3096C660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80670F-1EF2-4211-9225-69591A4C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196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Blocks pre-recording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C57E7C-16B5-4B44-9C43-695C1A24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1435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The response must include a value that did not exist moments ago.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63AF04-BC8A-4AA1-A94E-43793C68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48200"/>
            <a:ext cx="2667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DE"/>
          </a:solidFill>
          <a:ln xmlns:a="http://schemas.openxmlformats.org/drawingml/2006/main" w="9525">
            <a:solidFill>
              <a:srgbClr val="3F7D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E40DE3-C26B-40C8-9BCF-51182AF1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4820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47"/>
          </a:solidFill>
          <a:ln xmlns:a="http://schemas.openxmlformats.org/drawingml/2006/main" w="0">
            <a:solidFill>
              <a:srgbClr val="3F7D4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00A03C-51C9-4342-AEB1-FAACE9C3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Supports UX clarity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D6482C-48CB-4231-A728-0DA076E6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435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High-risk actions can explain why a fresh live check is needed now.</a:t>
            </a:r>
          </a:p>
        </p:txBody>
      </p:sp>
    </p:spTree>
    <p:extLst>
      <p:ext uri="{BB962C8B-B14F-4D97-AF65-F5344CB8AC3E}">
        <p14:creationId xmlns:p14="http://schemas.microsoft.com/office/powerpoint/2010/main" val="15501258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EB8EF4-9246-4D4E-B2EA-7E5B96C7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DATA MINIMIZATION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62B07-4936-4EC0-A0CE-0F7540CC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FEN stores continuity evidence, not biometric material.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D2AD0-8F04-40B9-A796-41768C67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The template is read by the matcher and never crosses into the FEN graph.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D7412-5B15-4AFB-904C-3A83137D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38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C61B7-C27E-4142-974E-12E1A458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36A68-085B-444D-AE30-839E02AB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FEN identity model | team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072DF-A9E0-4B84-BC20-C7798C0F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860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FEN stores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5E56E-4AD4-42E9-B02E-431A7E08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FEN refuses to store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E663E-72CB-4D07-90F7-28F0E81C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813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C2CD0-913C-41CD-BEDA-61B2C927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48025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enrollment 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EF39C-4FF5-4BEE-ADD3-15487CF4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051DC-BD86-4EAE-B9D1-500D7A77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signed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B9360-1B94-4FDF-9B98-6ACC23C6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ED6B2-2CF3-4A87-A684-D632E1B6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24325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modality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BA30D-BBFF-47E4-9B17-C5B1C608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958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60BF7-ACB5-4486-9F3E-1B874D91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62475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assurance level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74124-6B6C-4222-8CEE-7ACF3716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C53BF-AC2F-4EC3-936D-3B5194B6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policy / audit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95396-3C30-44BF-B9BB-A659ED3F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813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8D4"/>
          </a:solidFill>
          <a:ln xmlns:a="http://schemas.openxmlformats.org/drawingml/2006/main" w="9525">
            <a:solidFill>
              <a:srgbClr val="F6D8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7AB1A-546E-49CA-B2B2-A90EFF3E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48025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raw face frames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9D009A-46B8-4EC0-B8F5-ED0CD343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8D4"/>
          </a:solidFill>
          <a:ln xmlns:a="http://schemas.openxmlformats.org/drawingml/2006/main" w="9525">
            <a:solidFill>
              <a:srgbClr val="F6D8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E9BD9C-0E8D-4241-A2FB-7D6AF1DB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86175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biometric templates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B422DC-C27A-446F-932E-FD04AC14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576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8D4"/>
          </a:solidFill>
          <a:ln xmlns:a="http://schemas.openxmlformats.org/drawingml/2006/main" w="9525">
            <a:solidFill>
              <a:srgbClr val="F6D8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D798E6-69C4-463E-8B13-E32A370D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24325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embeddings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094EA-49A3-480E-A463-165328FC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958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8D4"/>
          </a:solidFill>
          <a:ln xmlns:a="http://schemas.openxmlformats.org/drawingml/2006/main" w="9525">
            <a:solidFill>
              <a:srgbClr val="F6D8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76A471-1F39-48C7-A900-BD51E1DF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62475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liveness media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DA0DF8-0595-40CF-B73A-EA6314BF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339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8D4"/>
          </a:solidFill>
          <a:ln xmlns:a="http://schemas.openxmlformats.org/drawingml/2006/main" w="9525">
            <a:solidFill>
              <a:srgbClr val="F6D8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229C30-24A0-4911-8CE8-ED1506D5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00625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cross-subject watchlists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DF30C7-CD42-4F59-B671-EF808D96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5750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FDFBB3-E4E8-4C34-9B79-FBFE2871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19750"/>
            <a:ext cx="8629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The privacy claim depends on a 1:1 subject check, isolated references, and no gallery search.</a:t>
            </a:r>
          </a:p>
        </p:txBody>
      </p:sp>
    </p:spTree>
    <p:extLst>
      <p:ext uri="{BB962C8B-B14F-4D97-AF65-F5344CB8AC3E}">
        <p14:creationId xmlns:p14="http://schemas.microsoft.com/office/powerpoint/2010/main" val="12759268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1512AB-7B8F-4755-B07D-F756F4F8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ADAPTER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AAEE3-61D3-4DD3-98D2-2E2479E8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External systems produce evidence; FEN owns identity semantics.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8E5E5-6D74-4D2C-A6B7-29F329EE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This is the portability argument applied to authentication, devices, continuity, providers, and payers.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EA35C-8B86-4310-AE5A-FA323FD1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38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57BC8-F3B8-46B4-8D35-C426C371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1B44E-341F-4CCB-862B-86937961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FEN identity model | team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839B3-4477-440B-BD55-6E39532B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12129-871F-49FE-A6EA-DADA43C5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57475"/>
            <a:ext cx="2324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OIDC / Keycloak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F7EBB-8895-4495-B874-64A6B6A4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2324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account session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14108-2D3F-4195-A0F6-B2F795A3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00350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DCEE3-D989-4A98-873C-AADFF6D7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A556A-F4BA-4808-8695-D22A7358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19475"/>
            <a:ext cx="2324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App Attest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E62EE-9634-4553-9EB8-480F0E3C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2324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app-bound 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9E7082-53C1-476E-8C95-BEF0D0B1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62350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6D74F1-7DE6-43E0-98E6-747F3869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0994A-E8B4-41B0-A72D-9290E756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81475"/>
            <a:ext cx="2324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Continuity vault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97530C-1C4C-4850-909A-345ADC2B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2324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signed assertion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02336A-FB82-43A6-A68A-ACD0E47D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24350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67404-D583-495E-9D7A-F1DED114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7F6D70-6406-420B-B780-4A5A6BBC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43475"/>
            <a:ext cx="2324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Provider / payer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12DDD1-339A-4137-8BE1-752E5EFF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81600"/>
            <a:ext cx="2324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institutional link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1B83A7-A261-4AB5-87A3-865972DE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086350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8DD934-9F16-4B2A-844D-D020C583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43200"/>
            <a:ext cx="22860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F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578958-4F4A-4F0E-87F0-BD7EB47F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432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455D40-A982-488B-8BE2-86D598D4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146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Verifier / translator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DA56A0-8111-44CC-B9C6-4B5C8D5C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38500"/>
            <a:ext cx="1943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Validate evidence at the edge.</a:t>
            </a:r>
          </a:p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Translate only verified claims into typed FEN facts.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E93353-AAE6-4564-A233-DB2486B8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147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D4FC3C-F799-464C-8EBA-E6C87A11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05100"/>
            <a:ext cx="3143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DE"/>
          </a:solidFill>
          <a:ln xmlns:a="http://schemas.openxmlformats.org/drawingml/2006/main" w="9525">
            <a:solidFill>
              <a:srgbClr val="3F7D4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7903F4-080D-459B-9BFC-8455EBDE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051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47"/>
          </a:solidFill>
          <a:ln xmlns:a="http://schemas.openxmlformats.org/drawingml/2006/main" w="0">
            <a:solidFill>
              <a:srgbClr val="3F7D4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8F4527-2CA5-4A0C-BB46-84FFB8BA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FEN fact graph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C4E610-6E3F-4B1A-8A6E-08798240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2800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CredentialAssertion</a:t>
            </a:r>
          </a:p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DeviceBindingEstablished</a:t>
            </a:r>
          </a:p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BiometricContinuityCheck</a:t>
            </a:r>
          </a:p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IdentityWitnessRecorded</a:t>
            </a:r>
          </a:p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ClinicalIdentityLinkEstablished</a:t>
            </a:r>
          </a:p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AccessDecision</a:t>
            </a:r>
          </a:p>
        </p:txBody>
      </p:sp>
    </p:spTree>
    <p:extLst>
      <p:ext uri="{BB962C8B-B14F-4D97-AF65-F5344CB8AC3E}">
        <p14:creationId xmlns:p14="http://schemas.microsoft.com/office/powerpoint/2010/main" val="836431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D828E1-A95B-4150-89F3-F860F9E2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MATERIALIZATION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B48BE-0460-4083-BD3A-8A2E006E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A SQL read is not the same as reconstructing meaning.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E11FF-54B6-4F8B-928C-D7CF647D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Sensitive facts stay encrypted until Rust policy, key access, decryption, and replay allow a derived 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CB2C0-39E0-4D3C-9EDF-8DF62881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38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2BA9F-3649-4A85-A77E-9310FFC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C2563-1D69-445E-9078-AAD40DC1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FEN identity model | team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2EC74-2A39-456F-A662-3E23AB59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09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F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5E698-FE76-486A-B5CE-3E4D7BA1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24135-255B-49B9-861E-1CB0288C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Encrypted envelopes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2E9A2-9B09-4C65-B8F0-6896A019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1752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append order</a:t>
            </a:r>
          </a:p>
          <a:p xmlns:a="http://schemas.openxmlformats.org/drawingml/2006/main">
            <a:pPr algn="l">
              <a:defRPr sz="12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metadata</a:t>
            </a:r>
          </a:p>
          <a:p xmlns:a="http://schemas.openxmlformats.org/drawingml/2006/main">
            <a:pPr algn="l">
              <a:defRPr sz="12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ciphertext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2E561-87BA-4FD0-9D57-8529D86C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290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1A42D-6146-4ADF-B8E1-BBE7049E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4332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D2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D2C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A21DE-7728-4925-8B7B-4B60179E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143250"/>
            <a:ext cx="209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C8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AA54F-E3D0-4E26-8D44-F4D6515E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1432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1706B6-7A77-4C0E-872C-78D93039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3147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Rust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090F23-D64D-4E4E-A840-3F769F41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638550"/>
            <a:ext cx="1752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caller</a:t>
            </a:r>
          </a:p>
          <a:p xmlns:a="http://schemas.openxmlformats.org/drawingml/2006/main">
            <a:pPr algn="l">
              <a:defRPr sz="12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purpose</a:t>
            </a:r>
          </a:p>
          <a:p xmlns:a="http://schemas.openxmlformats.org/drawingml/2006/main">
            <a:pPr algn="l">
              <a:defRPr sz="12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operation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F1B250-C3C9-49E6-8D42-0FF7179F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290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1B8BE7-86EC-4733-80C6-59EAC0C9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4332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D2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D2C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A9AC9A-24C6-4490-9A31-99EB21F7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209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6A2E83-90DA-4EB3-B93D-91C0E8EE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679ACE-F72C-4A94-8ED1-A829A0CF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47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Key + decrypt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AC66F1-CC2C-4FE4-9FA3-07DAE8F9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38550"/>
            <a:ext cx="1752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associated data</a:t>
            </a:r>
          </a:p>
          <a:p xmlns:a="http://schemas.openxmlformats.org/drawingml/2006/main">
            <a:pPr algn="l">
              <a:defRPr sz="12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key state</a:t>
            </a:r>
          </a:p>
          <a:p xmlns:a="http://schemas.openxmlformats.org/drawingml/2006/main">
            <a:pPr algn="l">
              <a:defRPr sz="12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authentication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5C80E-31BB-4E66-8F46-6FFA0DC7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290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2F4009-37B2-4A65-B7DC-6837615A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4332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D2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D2C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049872-1C4D-433C-8394-B237509E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43250"/>
            <a:ext cx="209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FEEAA5-2DA1-466C-87A3-80259737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432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D87166-3FDE-41CB-ABF6-49110227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3147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Replay facts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8F82B8-6150-418C-ABAA-5FF91684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638550"/>
            <a:ext cx="1752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typed graph</a:t>
            </a:r>
          </a:p>
          <a:p xmlns:a="http://schemas.openxmlformats.org/drawingml/2006/main">
            <a:pPr algn="l">
              <a:defRPr sz="12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projection</a:t>
            </a:r>
          </a:p>
          <a:p xmlns:a="http://schemas.openxmlformats.org/drawingml/2006/main">
            <a:pPr algn="l">
              <a:defRPr sz="12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60FB94-D552-41B2-87D5-F66DD477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43500"/>
            <a:ext cx="9029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Rust owns semantic interpretation. Storage preserves append-only encrypted envelopes.</a:t>
            </a:r>
          </a:p>
        </p:txBody>
      </p:sp>
    </p:spTree>
    <p:extLst>
      <p:ext uri="{BB962C8B-B14F-4D97-AF65-F5344CB8AC3E}">
        <p14:creationId xmlns:p14="http://schemas.microsoft.com/office/powerpoint/2010/main" val="10139304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F909D5-B15A-4F7C-B59E-DF8D5B8F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FAILURE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6C136-D19C-44BE-8F4C-8524D830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A failed check is still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6684C-FCBE-471A-90B3-95710C44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The model avoids bare denial by turning failures, disputes, and corrections into facts and episodes.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6D1FF-3B2C-4326-91E4-FBEF893E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38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1C714-69FF-4F4A-9E01-67878B6B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4FB43-CBF6-4B5E-9539-9E688407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FEN identity model | team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9F65D-C67B-4B37-81DA-70FF5289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Failed liveness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9EDC8-48FB-4F81-9E91-902C0D4F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38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14648-F253-410D-9EF6-8F08F1BB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5272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D2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D2C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42A76-BEBF-49CD-A45B-5A790365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051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BiometricContinuityCheck: 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DBA35-91FA-4186-8AD1-32A62E9C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38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E7936-F19F-4A8A-92DB-8789D348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5272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D2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D2C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97F49-4EC1-49EE-8DB2-E3B76FA8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051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manual review or lockout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34FCC-A6F9-4D53-B1EA-B36E7360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DA601-C3BC-47E4-A691-1B427750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Stale nonce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D5107-B2C7-4C42-99E5-32EFC299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814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11BF0-9DF5-4EDF-9610-839F62A1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956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D2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D2C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F7EAF-86F7-464D-ABC1-F8D95114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480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continuity rejection reason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16104-8C92-45F7-B577-8EB0C82D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4DC36-B630-4B51-AAD3-875178EC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956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D2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D2C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F8F1B9-9A00-40F8-BB74-8471487D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48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retry with fresh challenge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E8F457-CC97-4F29-9A53-99EF791A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FA1C77-D01A-4E06-B00F-31043162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Contested provider link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C9C26C-5392-4548-B9DC-436E8B39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243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CB22F9-2ADD-45C9-B982-71FCFA27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3862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D2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D2C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96EF41-84DB-4562-B5B1-21624A39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910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ClinicalIdentityLinkContested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57F437-4C6B-44AD-BB62-5A8ECAA3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243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86AEB0-67CE-4393-8F4D-2D9EE2DE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3862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D2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D2C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137B51-511C-4D34-A616-BD8F072C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exclude from high-risk reliance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F5B25C-9320-43E7-AF3A-14C52138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44E063-D802-49A0-8C5C-18475E49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Lost device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49C31B-C0AA-4207-819E-A73CD6A4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673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294929-CB67-4D1A-AB23-8F43883C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815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D2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D2C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542A50-29DC-4546-8857-F02A4CB2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339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DeviceBindingRevoked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577702-EB46-4461-B076-99B8952B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673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A8C8E1-0706-4870-A617-56DBD10C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81575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D2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D2C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7C07A1-F47A-4501-996C-368448A4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339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recovery episode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46DDD0-8DCD-473E-B161-06D00A17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30457F-69F9-447D-98AC-EC298644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772150"/>
            <a:ext cx="902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This is a UX design advantage: errors become explainable states, not mysterious dead ends.</a:t>
            </a:r>
          </a:p>
        </p:txBody>
      </p:sp>
    </p:spTree>
    <p:extLst>
      <p:ext uri="{BB962C8B-B14F-4D97-AF65-F5344CB8AC3E}">
        <p14:creationId xmlns:p14="http://schemas.microsoft.com/office/powerpoint/2010/main" val="19952994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06C3FB-4127-4D5B-A74B-E40937EA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PRODUCT IMPLICATIONS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B8B58-EDAC-4B9D-8E68-222254A0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The model gives UX a vocabulary for trust transitions.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30783-5A29-4840-9582-8DD7A52D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Each user flow can show what evidence is required, what confidence changed, and what happens next.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E606E-0BD8-409C-8396-0D1508BC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38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F2369-FE03-4506-AE44-E1CF891C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F28C9-86E3-4786-9279-245F2F1D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FEN identity model | team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C8E73-2ADF-41E7-A81A-EC02FCD6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2E669-EC1A-40C9-B1C7-D459DB55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894D5-557E-46C4-9A1B-E4FACE6B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Onboarding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FF585-FF24-4945-B85D-ABE714BE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bind subject, device, witnesses,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5B609-56A1-4FB9-B115-1DEE8BAC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051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C8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F41FA-694D-4DE8-96DF-31ED7877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051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73546-7F7E-4847-AEB0-98264C81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765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Step-up export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17335-72A1-49D9-8C38-67561641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040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fresh continuity + risk + access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F19A7-10ED-4BDD-B4B8-E115A8D3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051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4708D-5DE2-4F5E-9868-4883D72A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051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2F80D-02A6-4B6C-A36A-7D37D97F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Recovery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97894-2DF4-4B98-A167-3D0AE87C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040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replace device without erasing 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6F7EAA-F178-4F00-A2A6-BDD1669A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439D9A-E409-4201-8CA6-655BEC01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4A050-1045-441D-83D7-7E46C6E9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Delegation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47C463-A245-45F7-AA7F-8ECA72F4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actor authority over target subject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003AE7-C9B5-4210-8B09-E446B641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624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8D4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CDBA3D-5CD2-4AD5-A475-206FE925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624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5A08AE-9129-485F-B1A4-CE3D6929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339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Dispute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CF91B8-502D-4AE9-BE47-B265E146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5775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contested link remains auditable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8F8B80-485A-4BE9-A7BD-D771ED54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34050"/>
            <a:ext cx="8801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Design target: users should understand why the system asks for more evidence, not just that it blocked them.</a:t>
            </a:r>
          </a:p>
        </p:txBody>
      </p:sp>
    </p:spTree>
    <p:extLst>
      <p:ext uri="{BB962C8B-B14F-4D97-AF65-F5344CB8AC3E}">
        <p14:creationId xmlns:p14="http://schemas.microsoft.com/office/powerpoint/2010/main" val="5548310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06436E-D1D1-4834-B6F1-AAB0245B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RUST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37C94-2DDB-4C90-9D53-B2FABD6D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The current framework already exercises the architectural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8AD7B-D816-4FDC-ADAF-DD2BC235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The codebase has enough working slices to make this a concrete MVP path rather than a theory deck.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25CE5-8AC6-4EF5-A593-3F7AC38C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38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C1534-55A4-4277-8C7F-E3ADD81F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36D99-8907-4E59-930F-305B03C0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FEN identity model | team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5EFE6-75A4-4334-851F-3DFE4036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DE"/>
          </a:solidFill>
          <a:ln xmlns:a="http://schemas.openxmlformats.org/drawingml/2006/main" w="9525">
            <a:solidFill>
              <a:srgbClr val="3F7D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B429A-09B5-41C8-B49F-F25BF00A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47"/>
          </a:solidFill>
          <a:ln xmlns:a="http://schemas.openxmlformats.org/drawingml/2006/main" w="0">
            <a:solidFill>
              <a:srgbClr val="3F7D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484B8-467A-4BAB-BA3F-8BE86D6D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Already built and tested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71AD1-37C9-48AA-B96F-74E3D19C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4419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Typed FEN facts and identity primitives</a:t>
            </a:r>
          </a:p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Workflow slices for onboarding, recovery, delegation, access, disputes</a:t>
            </a:r>
          </a:p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OIDC / Keycloak evidence boundary</a:t>
            </a:r>
          </a:p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App Attest-shaped device evidence guard</a:t>
            </a:r>
          </a:p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Encrypted persistence and PostgreSQL replay</a:t>
            </a:r>
          </a:p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Policy-gated materialized projections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6B97E-93B4-4192-B0E6-2E3C7920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C8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FCBA3-2E73-4CC1-B200-0555AC7E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0506F-6B23-4364-80A7-467FE8E6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38450"/>
            <a:ext cx="441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Next MVP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8A9B6-9D0E-4B71-B558-7E05F83F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62300"/>
            <a:ext cx="4419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Real Apple App Attest adapter</a:t>
            </a:r>
          </a:p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Production key management / wrapping</a:t>
            </a:r>
          </a:p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Operational PostgreSQL deployment</a:t>
            </a:r>
          </a:p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Durable policy artifact lifecycle</a:t>
            </a:r>
          </a:p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Minimal iPhone path against production HTTP runtime</a:t>
            </a:r>
          </a:p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Hardening: audit, replay, failure taxonomy, observability</a:t>
            </a:r>
          </a:p>
        </p:txBody>
      </p:sp>
    </p:spTree>
    <p:extLst>
      <p:ext uri="{BB962C8B-B14F-4D97-AF65-F5344CB8AC3E}">
        <p14:creationId xmlns:p14="http://schemas.microsoft.com/office/powerpoint/2010/main" val="9785952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5CCDB1-6189-464C-B78E-4E87FDC8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TEAM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816A1-E4D1-41E3-B76D-F8F5C8F7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The next decision is not whether the model is elegant. It is which risks we must prove first.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E8C32-725F-4A5E-BFB7-9E4834B2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Use the deck to converge on MVP proof, UX language, and governance boundaries.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FF058-9E8A-43EC-B50B-C958718E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38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EA835-094D-45C7-82D5-0499BB52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1224E-3729-41A2-BB13-48A17870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FEN identity model | team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C10C6-36B7-4361-9312-9783EB24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4267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9F54D-CBCA-4022-8D27-4B19950B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B0B50-1A1F-493D-973C-D78D5B88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392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Highest-risk identity mistake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E3136-CE51-4DCE-A9E6-5E4BB820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392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Which wrong binding or wrong authority scenario would harm users or data integrity most?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E7D52-FD5C-4CB0-8E8C-CA6F2E16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4267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C7A39-C438-4EBE-9A2E-EF493619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C8202-CD33-469E-8726-62EAEE10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392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Explainability standard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55D53-F7A7-449F-9262-BFD9A310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392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What must the user, support team, scientist, or auditor be able to understand after a failure?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0FAFCB-800F-4105-882F-E10081CA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4267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DD476-A6BF-40EA-99EC-023A9E67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83C35-304A-41E3-97AA-CE12775C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392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Evidence threshold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1EAACE-90D3-4F53-B6E6-B13E618A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392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Which actions require fresh continuity, and which can rely on ordinary account/device evidence?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EC1746-B3B8-41A5-8F6B-CCAE1D14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267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1883B-82E3-41D4-9747-CB3281F0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26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8041A2-F10A-4578-8659-B40E92F3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92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Governance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22681F-E1EF-44DB-93E7-CA63F254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67250"/>
            <a:ext cx="392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Where should thresholds, assurance mappings, consent, and retention live as durable policy?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4B5B8B-0D20-4790-BE3F-020DBF18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29300"/>
            <a:ext cx="811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Suggested close: pick one end-to-end demo path and one failure path to prove.</a:t>
            </a:r>
          </a:p>
        </p:txBody>
      </p:sp>
    </p:spTree>
    <p:extLst>
      <p:ext uri="{BB962C8B-B14F-4D97-AF65-F5344CB8AC3E}">
        <p14:creationId xmlns:p14="http://schemas.microsoft.com/office/powerpoint/2010/main" val="16798668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2026-06-01T21:32:10.5650000Z</dcterms:created>
  <dcterms:modified xsi:type="dcterms:W3CDTF">2026-06-01T21:32:10.5650000Z</dcterms:modified>
</coreProperties>
</file>